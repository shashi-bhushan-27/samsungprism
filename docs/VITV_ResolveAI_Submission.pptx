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github.com/shashi-bhushan-27/samsungPris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youtu.be/eRBRi4PisPU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shashi-bhushan-27/samsungPrism" TargetMode="External"/><Relationship Id="rId4" Type="http://schemas.openxmlformats.org/officeDocument/2006/relationships/hyperlink" Target="https://youtu.be/eRBRi4PisPU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</a:t>
            </a:r>
            <a:r>
              <a:rPr sz="1600" b="0">
                <a:solidFill>
                  <a:srgbClr val="14142B"/>
                </a:solidFill>
              </a:rPr>
              <a:t> Theme 2: Troubleshooting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</a:t>
            </a:r>
            <a:r>
              <a:rPr sz="1600" b="0">
                <a:solidFill>
                  <a:srgbClr val="14142B"/>
                </a:solidFill>
              </a:rPr>
              <a:t> ResolveAI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</a:t>
            </a:r>
            <a:r>
              <a:rPr sz="1600" b="0">
                <a:solidFill>
                  <a:srgbClr val="14142B"/>
                </a:solidFill>
              </a:rPr>
              <a:t> VITV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</a:t>
            </a:r>
            <a:r>
              <a:rPr sz="1600" b="0">
                <a:solidFill>
                  <a:srgbClr val="14142B"/>
                </a:solidFill>
              </a:rPr>
              <a:t> Shashi Bhushan – shashibhushan.vijay2022@vitstudent.ac.in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</a:t>
            </a:r>
            <a:r>
              <a:rPr sz="1600" b="0">
                <a:solidFill>
                  <a:srgbClr val="14142B"/>
                </a:solidFill>
              </a:rPr>
              <a:t> Astha Doshi – astha.doshi2023@vitstudent.ac.in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</a:t>
            </a:r>
            <a:r>
              <a:rPr sz="1600" b="0">
                <a:solidFill>
                  <a:srgbClr val="14142B"/>
                </a:solidFill>
              </a:rPr>
              <a:t> Himangi Khanduri – himangi.khanduri2023@vitstudent.ac.in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</a:t>
            </a:r>
            <a:r>
              <a:rPr sz="1600" b="0">
                <a:solidFill>
                  <a:srgbClr val="14142B"/>
                </a:solidFill>
              </a:rPr>
              <a:t> </a:t>
            </a:r>
            <a:r>
              <a:rPr sz="1600" b="0">
                <a:solidFill>
                  <a:srgbClr val="14142B"/>
                </a:solidFill>
                <a:hlinkClick r:id="rId4"/>
              </a:rPr>
              <a:t>https://github.com/shashi-bhushan-27/samsungPrism</a:t>
            </a:r>
            <a:r>
              <a:rPr sz="1600" b="0">
                <a:solidFill>
                  <a:srgbClr val="14142B"/>
                </a:solidFill>
              </a:rPr>
              <a:t>  (tag PRISM_GENAI_HACKATHON_Y2026)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2800"/>
            </a:pPr>
            <a:r>
              <a:rPr sz="1700" b="1">
                <a:solidFill>
                  <a:srgbClr val="14142B"/>
                </a:solidFill>
              </a:rPr>
              <a:t>Theme 2: Smart Guided Troubleshooting Engine.</a:t>
            </a:r>
            <a:r>
              <a:rPr sz="1700" b="0">
                <a:solidFill>
                  <a:srgbClr val="14142B"/>
                </a:solidFill>
              </a:rPr>
              <a:t> Turn a vague device complaint into a short, safe, one-tap fix plan.</a:t>
            </a:r>
            <a:endParaRPr/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Input: the customer's complaint and the SIIS knowledge-base answer retrieved for it.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Output (schema.py contract): a goal, a sentence-case title and ordered actions. Each action has imperative steps, a category (auto / manual / critical) and, for Settings changes, the exact catalog deeplink.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Hard rules: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3637E"/>
                </a:solidFill>
              </a:rPr>
              <a:t>Use only steps found in the SIIS text. Use only deeplinks found in the catalog. No URLs.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3637E"/>
                </a:solidFill>
              </a:rPr>
              <a:t>One action per screen or feature. Critical actions such as restart or reset come last.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3637E"/>
                </a:solidFill>
              </a:rPr>
              <a:t>8–10 query variations. Fast on repeated or paraphrased complaints: P95 ≤ 300 ms on a cache hit, ≤ 8 s cold.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Official data: 20 customer complaints (screen and display issues), 1 reference sample, a 577-entry masked deeplink catalog (voiceassist://).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838200" y="1825625"/>
          <a:ext cx="105156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3000000"/>
                <a:gridCol w="4915600"/>
              </a:tblGrid>
              <a:tr h="56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it does well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Gap for this theme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FAQ / knowledge-base search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Finds the right article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Leaves the customer to read it; no one-tap action, no ordering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LLM chatbot (free text)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Understands messy language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Invents steps and links, varies run to run, slow and costly per query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Rule-based decision trees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Predictable, cheap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Breaks on new phrasing; every new issue needs manual authoring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Retrieval + LLM (plain RAG)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Grounded answer text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No structure: screens, categories and deeplinks are not guaranteed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110" name="TextBox 109"/>
          <p:cNvSpPr txBox="1"/>
          <p:nvPr/>
        </p:nvSpPr>
        <p:spPr>
          <a:xfrm>
            <a:off x="838200" y="4875625"/>
            <a:ext cx="10515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Our gap to close: keep the language understanding of an LLM, but let code decide everything that must be exact: the grounding, the deeplink, the order, the schema and the cache.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600000" y="1900000"/>
            <a:ext cx="1620000" cy="900000"/>
          </a:xfrm>
          <a:prstGeom prst="roundRect">
            <a:avLst/>
          </a:prstGeom>
          <a:solidFill>
            <a:srgbClr val="D9D3F0"/>
          </a:solidFill>
          <a:ln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14142B"/>
                </a:solidFill>
              </a:rPr>
              <a:t>Query enrichment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typo fix, intent,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canonical query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370000" y="1900000"/>
            <a:ext cx="1620000" cy="900000"/>
          </a:xfrm>
          <a:prstGeom prst="roundRect">
            <a:avLst/>
          </a:prstGeom>
          <a:solidFill>
            <a:srgbClr val="D9D3F0"/>
          </a:solidFill>
          <a:ln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14142B"/>
                </a:solidFill>
              </a:rPr>
              <a:t>Cache lookup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exact key → semantic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(bge-small, gated)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2220000" y="2350000"/>
            <a:ext cx="150000" cy="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4140000" y="1900000"/>
            <a:ext cx="1620000" cy="900000"/>
          </a:xfrm>
          <a:prstGeom prst="roundRect">
            <a:avLst/>
          </a:prstGeom>
          <a:solidFill>
            <a:srgbClr val="D9D3F0"/>
          </a:solidFill>
          <a:ln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14142B"/>
                </a:solidFill>
              </a:rPr>
              <a:t>SIIS source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request text, else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BM25+dense KB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3990000" y="2350000"/>
            <a:ext cx="150000" cy="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5910000" y="1900000"/>
            <a:ext cx="1620000" cy="90000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Grounded extraction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LLM (JSON schema)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+ grounding check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5760000" y="2350000"/>
            <a:ext cx="150000" cy="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7680000" y="1900000"/>
            <a:ext cx="1620000" cy="900000"/>
          </a:xfrm>
          <a:prstGeom prst="roundRect">
            <a:avLst/>
          </a:prstGeom>
          <a:solidFill>
            <a:srgbClr val="D9D3F0"/>
          </a:solidFill>
          <a:ln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14142B"/>
                </a:solidFill>
              </a:rPr>
              <a:t>Deeplink mapping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BM25+dense hybrid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+ exact-screen resolver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7530000" y="2350000"/>
            <a:ext cx="150000" cy="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9450000" y="1900000"/>
            <a:ext cx="1620000" cy="900000"/>
          </a:xfrm>
          <a:prstGeom prst="roundRect">
            <a:avLst/>
          </a:prstGeom>
          <a:solidFill>
            <a:srgbClr val="D9D3F0"/>
          </a:solidFill>
          <a:ln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14142B"/>
                </a:solidFill>
              </a:rPr>
              <a:t>Sequencing + gates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critical last; schema,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rules, URL scan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9300000" y="2350000"/>
            <a:ext cx="150000" cy="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600000" y="1380000"/>
            <a:ext cx="3000000" cy="380000"/>
          </a:xfrm>
          <a:prstGeom prst="roundRect">
            <a:avLst/>
          </a:prstGeom>
          <a:solidFill>
            <a:srgbClr val="14142B"/>
          </a:solidFill>
          <a:ln>
            <a:solidFill>
              <a:srgbClr val="141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POST /v1/troubleshoot {query, siis_response?}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370000" y="3220000"/>
            <a:ext cx="3390000" cy="56000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200" b="1">
                <a:solidFill>
                  <a:srgbClr val="14142B"/>
                </a:solidFill>
              </a:rPr>
              <a:t>HIT → validated plan returned</a:t>
            </a:r>
          </a:p>
          <a:p>
            <a:pPr algn="ctr"/>
            <a:r>
              <a:rPr sz="1000" b="0">
                <a:solidFill>
                  <a:srgbClr val="14142B"/>
                </a:solidFill>
              </a:rPr>
              <a:t>no model call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3180000" y="2800000"/>
            <a:ext cx="0" cy="42000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9450000" y="3220000"/>
            <a:ext cx="1620000" cy="56000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200" b="1">
                <a:solidFill>
                  <a:srgbClr val="14142B"/>
                </a:solidFill>
              </a:rPr>
              <a:t>Validated JSON</a:t>
            </a:r>
          </a:p>
          <a:p>
            <a:pPr algn="ctr"/>
            <a:r>
              <a:rPr sz="1000" b="0">
                <a:solidFill>
                  <a:srgbClr val="14142B"/>
                </a:solidFill>
              </a:rPr>
              <a:t>(schema.py) → cache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0260000" y="2800000"/>
            <a:ext cx="0" cy="42000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7680000" y="4120000"/>
            <a:ext cx="1620000" cy="62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200" b="1">
                <a:solidFill>
                  <a:srgbClr val="14142B"/>
                </a:solidFill>
              </a:rPr>
              <a:t>Catalog registry</a:t>
            </a:r>
          </a:p>
          <a:p>
            <a:pPr algn="ctr"/>
            <a:r>
              <a:rPr sz="1000" b="0">
                <a:solidFill>
                  <a:srgbClr val="14142B"/>
                </a:solidFill>
              </a:rPr>
              <a:t>577 masked URIs</a:t>
            </a:r>
          </a:p>
        </p:txBody>
      </p:sp>
      <p:cxnSp>
        <p:nvCxnSpPr>
          <p:cNvPr id="131" name="Connector 130"/>
          <p:cNvCxnSpPr/>
          <p:nvPr/>
        </p:nvCxnSpPr>
        <p:spPr>
          <a:xfrm flipV="1">
            <a:off x="8490000" y="2800000"/>
            <a:ext cx="0" cy="132000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600000" y="4070000"/>
            <a:ext cx="59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142B"/>
                </a:solidFill>
              </a:rPr>
              <a:t>The model is an assistant, not the controller:</a:t>
            </a:r>
          </a:p>
          <a:p>
            <a:r>
              <a:rPr sz="1300" b="0">
                <a:solidFill>
                  <a:srgbClr val="14142B"/>
                </a:solidFill>
              </a:rPr>
              <a:t>• it only reads language and extracts structure from the SIIS text;</a:t>
            </a:r>
          </a:p>
          <a:p>
            <a:r>
              <a:rPr sz="1300" b="0">
                <a:solidFill>
                  <a:srgbClr val="14142B"/>
                </a:solidFill>
              </a:rPr>
              <a:t>• the URI is always copied from the catalog object, never from model output;</a:t>
            </a:r>
          </a:p>
          <a:p>
            <a:r>
              <a:rPr sz="1300" b="0">
                <a:solidFill>
                  <a:srgbClr val="14142B"/>
                </a:solidFill>
              </a:rPr>
              <a:t>• every response passes schema.py, the business rules and a URL scan before it is returned or cached.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5600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2800"/>
            </a:pPr>
            <a:r>
              <a:rPr sz="1400" b="1">
                <a:solidFill>
                  <a:srgbClr val="14142B"/>
                </a:solidFill>
              </a:rPr>
              <a:t>Demo video:</a:t>
            </a:r>
            <a:r>
              <a:rPr sz="1400" b="0">
                <a:solidFill>
                  <a:srgbClr val="14142B"/>
                </a:solidFill>
              </a:rPr>
              <a:t> </a:t>
            </a:r>
            <a:r>
              <a:rPr sz="1400" b="0">
                <a:solidFill>
                  <a:srgbClr val="14142B"/>
                </a:solidFill>
                <a:hlinkClick r:id="rId4"/>
              </a:rPr>
              <a:t>https://youtu.be/eRBRi4PisPU</a:t>
            </a:r>
            <a:r>
              <a:rPr sz="1400" b="0">
                <a:solidFill>
                  <a:srgbClr val="14142B"/>
                </a:solidFill>
              </a:rPr>
              <a:t> (also docs/ResolveAI_demo.mp4; earlier API walkthrough: docs/demo.webm)</a:t>
            </a:r>
            <a:endParaRPr/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4142B"/>
                </a:solidFill>
              </a:rPr>
              <a:t>Live walkthrough</a:t>
            </a:r>
            <a:r>
              <a:rPr sz="1400" b="0">
                <a:solidFill>
                  <a:srgbClr val="14142B"/>
                </a:solidFill>
              </a:rPr>
              <a:t> (http://localhost:8000/demo):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1. Paste an official complaint → plan in about 2–3 s on the first request (model call).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2. Same or paraphrased complaint → served from the semantic cache in milliseconds, no model call.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3. A SIIS text carrying a URL or a prompt injection → the link and the injected instruction are removed.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4. An out-of-scope complaint → empty contexts with fallback no_siis_context (no invented plan).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4142B"/>
                </a:solidFill>
              </a:rPr>
              <a:t>Example (official row):</a:t>
            </a:r>
            <a:r>
              <a:rPr sz="1400" b="0">
                <a:solidFill>
                  <a:srgbClr val="14142B"/>
                </a:solidFill>
              </a:rPr>
              <a:t> "My Nexa X1 screen inputs are delayed and the touch responsiveness is laggy, causing a noticeable delay when I…"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[auto] Configure Touch Sensitivity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[auto] Disable Full Screen Gestures → View Navigation bar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[manual] Remove Screen Protector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[critical] Restart Device</a:t>
            </a:r>
          </a:p>
        </p:txBody>
      </p:sp>
      <p:pic>
        <p:nvPicPr>
          <p:cNvPr id="121" name="Picture 120" descr="dem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00" y="1825625"/>
            <a:ext cx="4765600" cy="38991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838200" y="1675625"/>
          <a:ext cx="10515600" cy="42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4600000"/>
                <a:gridCol w="4015600"/>
              </a:tblGrid>
              <a:tr h="47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API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Python 3.11, FastAPI, Pydantic v2, uvicorn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Typed contract (schema.py) end to end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Model (run time)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Google Gemini gemini-3.1-flash-lite (extraction and variations; fail-over gemini-3.5-flash-lite → gemini-3.6-flash); Groq gpt-oss also supported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Strict JSON-schema output, fail-over chain, hedging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Embeddings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BAAI/bge-small-en-v1.5 via fastembed (ONNX, local)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No network at request time; ~384-d vectors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Retrieval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BM25 + dense hybrid, exact-screen resolver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Deterministic deeplink choice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Cache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SQLite (WAL): exact + semantic, versioned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Hits skip the model; invalidated on catalog change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Quality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pytest (390 offline tests), live benchmarks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Unit, integration, regression, adversarial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Delivery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Docker (non-root, HEALTHCHECK), Makefile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One-command setup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Dev tooling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Claude Code (AI-assisted development)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See AI disclosure form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2800"/>
            </a:pPr>
            <a:r>
              <a:rPr sz="1600" b="1">
                <a:solidFill>
                  <a:srgbClr val="14142B"/>
                </a:solidFill>
              </a:rPr>
              <a:t>Customer:</a:t>
            </a:r>
            <a:r>
              <a:rPr sz="1600" b="0">
                <a:solidFill>
                  <a:srgbClr val="14142B"/>
                </a:solidFill>
              </a:rPr>
              <a:t> one-tap fixes instead of reading an article. Each Settings action opens the exact screen, and a validation deeplink can confirm the toggle took effect.</a:t>
            </a:r>
            <a:endParaRPr/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Support centre:</a:t>
            </a:r>
            <a:r>
              <a:rPr sz="1600" b="0">
                <a:solidFill>
                  <a:srgbClr val="14142B"/>
                </a:solidFill>
              </a:rPr>
              <a:t> repeated and paraphrased complaints are answered from the cache, with no model call and no per-query model cost.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Cost:</a:t>
            </a:r>
            <a:r>
              <a:rPr sz="1600" b="0">
                <a:solidFill>
                  <a:srgbClr val="14142B"/>
                </a:solidFill>
              </a:rPr>
              <a:t> cold path ≈ $0.00118 per query (1.46 model calls, 1607 input / 516 output tokens); cache hits cost $0.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Safety:</a:t>
            </a:r>
            <a:r>
              <a:rPr sz="1600" b="0">
                <a:solidFill>
                  <a:srgbClr val="14142B"/>
                </a:solidFill>
              </a:rPr>
              <a:t> no invented steps, links or URLs reach the customer. Disruptive actions (restart, safe mode, reset) are always last.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Use cases:</a:t>
            </a:r>
            <a:r>
              <a:rPr sz="1600" b="0">
                <a:solidFill>
                  <a:srgbClr val="14142B"/>
                </a:solidFill>
              </a:rPr>
              <a:t> in-device help (assistant or Settings search), customer-care chat and agent-assist, self-service web support.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Extensible:</a:t>
            </a:r>
            <a:r>
              <a:rPr sz="1600" b="0">
                <a:solidFill>
                  <a:srgbClr val="14142B"/>
                </a:solidFill>
              </a:rPr>
              <a:t> a new product area needs only its SIIS articles and catalog entries; nothing is hard-coded per issue.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838200" y="1725625"/>
          <a:ext cx="740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0000"/>
                <a:gridCol w="1100000"/>
                <a:gridCol w="2400000"/>
              </a:tblGrid>
              <a:tr h="33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Check (official data, live model, real HTTP)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Measured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Schema-valid responses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≥ 99%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100% (262/262)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Goal / title / description rules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≥ 95%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100%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URL leaks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0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0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Deeplinks found verbatim in the catalog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100%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100% (85/85)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Auto actions with a valid deeplink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≥ 90%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309"/>
                          </a:solidFill>
                        </a:rPr>
                        <a:t>31.5%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P95 latency: exact cache hit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≤ 300 ms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10 ms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P95 latency: unseen paraphrase hit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≤ 300 ms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38 ms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P95 latency: cold full pipeline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≤ 8 s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2.58 s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Unseen paraphrases served the correct plan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≥ 80%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81.2% (65/80)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Wrong-plan cache hits (unseen paraphrases)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0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309"/>
                          </a:solidFill>
                        </a:rPr>
                        <a:t>1/80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Official queries with a grounded plan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—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18/20 (others: no_match)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388200" y="1725625"/>
            <a:ext cx="29656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6D28D9"/>
                </a:solidFill>
              </a:rPr>
              <a:t>Innovation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142B"/>
                </a:solidFill>
              </a:rPr>
              <a:t>• Model assists, code decides: catalog-only URIs, grounding filter, deterministic order.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142B"/>
                </a:solidFill>
              </a:rPr>
              <a:t>• Gated semantic cache (concept + qualifier checks) to avoid serving the wrong plan.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6D28D9"/>
                </a:solidFill>
              </a:rPr>
              <a:t>Limitations (honest)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142B"/>
                </a:solidFill>
              </a:rPr>
              <a:t>• Only 1 official reference sample: step accuracy vs. gold is not measurable at scale.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142B"/>
                </a:solidFill>
              </a:rPr>
              <a:t>• Some SIIS answers do not address the complaint; the system returns no_match rather than inventing steps.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142B"/>
                </a:solidFill>
              </a:rPr>
              <a:t>• One multi-intent edge case (E04) returned no_match instead of a plan.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142B"/>
                </a:solidFill>
              </a:rPr>
              <a:t>• Most official auto steps are outside Settings (panels, other apps): no catalog link exists for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2800"/>
            </a:pPr>
            <a:r>
              <a:rPr sz="1600" b="1">
                <a:solidFill>
                  <a:srgbClr val="14142B"/>
                </a:solidFill>
              </a:rPr>
              <a:t>More gold data:</a:t>
            </a:r>
            <a:r>
              <a:rPr sz="1600" b="0">
                <a:solidFill>
                  <a:srgbClr val="14142B"/>
                </a:solidFill>
              </a:rPr>
              <a:t> label the official queries (expected actions and deeplinks) to measure step accuracy and deeplink relevance, not only rule compliance.</a:t>
            </a:r>
            <a:endParaRPr/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On-device or edge model</a:t>
            </a:r>
            <a:r>
              <a:rPr sz="1600" b="0">
                <a:solidFill>
                  <a:srgbClr val="14142B"/>
                </a:solidFill>
              </a:rPr>
              <a:t> for extraction, so cold requests need no network and no third-party API.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Validation loop:</a:t>
            </a:r>
            <a:r>
              <a:rPr sz="1600" b="0">
                <a:solidFill>
                  <a:srgbClr val="14142B"/>
                </a:solidFill>
              </a:rPr>
              <a:t> after a one-tap action, read the validation deeplink and adapt the next step (e.g. skip a toggle already on).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Multilingual complaints:</a:t>
            </a:r>
            <a:r>
              <a:rPr sz="1600" b="0">
                <a:solidFill>
                  <a:srgbClr val="14142B"/>
                </a:solidFill>
              </a:rPr>
              <a:t> the embedding cache and the lexicon are English-only today.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Catalog coverage report:</a:t>
            </a:r>
            <a:r>
              <a:rPr sz="1600" b="0">
                <a:solidFill>
                  <a:srgbClr val="14142B"/>
                </a:solidFill>
              </a:rPr>
              <a:t> list SIIS screens with no catalog entry (served with the placeholder deeplink today) so they can be added.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Feedback signal:</a:t>
            </a:r>
            <a:r>
              <a:rPr sz="1600" b="0">
                <a:solidFill>
                  <a:srgbClr val="14142B"/>
                </a:solidFill>
              </a:rPr>
              <a:t> use 'did this fix it?' answers to rank actions and to retire stale cache entries.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2800"/>
            </a:pPr>
            <a:r>
              <a:rPr sz="1500" b="1">
                <a:solidFill>
                  <a:srgbClr val="14142B"/>
                </a:solidFill>
              </a:rPr>
              <a:t>Zero invented deeplinks or URLs</a:t>
            </a:r>
            <a:r>
              <a:rPr sz="1500" b="0">
                <a:solidFill>
                  <a:srgbClr val="14142B"/>
                </a:solidFill>
              </a:rPr>
              <a:t> across every measured response: the URI is copied from the catalog, never generated.</a:t>
            </a:r>
            <a:endParaRPr/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4142B"/>
                </a:solidFill>
              </a:rPr>
              <a:t>Hostile review:</a:t>
            </a:r>
            <a:r>
              <a:rPr sz="1500" b="0">
                <a:solidFill>
                  <a:srgbClr val="14142B"/>
                </a:solidFill>
              </a:rPr>
              <a:t> prompt and URL injection, fake URIs, parent-menu traps and cache poisoning were probed live (synthetic fixture) and offline; every issue found was fixed with a regression test (HARDENING_REPORT.md, H1–H19).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4142B"/>
                </a:solidFill>
              </a:rPr>
              <a:t>Measured, not claimed:</a:t>
            </a:r>
            <a:r>
              <a:rPr sz="1500" b="0">
                <a:solidFill>
                  <a:srgbClr val="14142B"/>
                </a:solidFill>
              </a:rPr>
              <a:t> metrics.md is rendered from JSON reports produced against a real server and a real model; no number is typed by hand.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4142B"/>
                </a:solidFill>
              </a:rPr>
              <a:t>Ablation (synthetic fixture):</a:t>
            </a:r>
            <a:r>
              <a:rPr sz="1500" b="0">
                <a:solidFill>
                  <a:srgbClr val="14142B"/>
                </a:solidFill>
              </a:rPr>
              <a:t> full-LLM vs. hybrid vs. rules deeplink mapping on the same extracted actions; on 13 gold actions the full-LLM mapper scored 1.77/2 deeplink relevance vs 2.00 for hybrid retrieval, at about 7× the cost per query.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4142B"/>
                </a:solidFill>
              </a:rPr>
              <a:t>Requirements traceability:</a:t>
            </a:r>
            <a:r>
              <a:rPr sz="1500" b="0">
                <a:solidFill>
                  <a:srgbClr val="14142B"/>
                </a:solidFill>
              </a:rPr>
              <a:t> each rule maps to its code, its test and its evidence; targets not met are marked as such.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4142B"/>
                </a:solidFill>
              </a:rPr>
              <a:t>Format-tolerant:</a:t>
            </a:r>
            <a:r>
              <a:rPr sz="1500" b="0">
                <a:solidFill>
                  <a:srgbClr val="14142B"/>
                </a:solidFill>
              </a:rPr>
              <a:t> adapted from the synthetic fixture to the official voiceassist:// catalog and SIIS objects without changing the contract.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rgbClr val="63637E"/>
              </a:buClr>
              <a:buSzPts val="2800"/>
              <a:buChar char="•"/>
            </a:pPr>
            <a:r>
              <a:rPr sz="1700" b="0">
                <a:solidFill>
                  <a:srgbClr val="14142B"/>
                </a:solidFill>
              </a:rPr>
              <a:t>Working prototype code — public or shared GitHub repo: </a:t>
            </a:r>
            <a:r>
              <a:rPr sz="1700" b="1">
                <a:solidFill>
                  <a:srgbClr val="14142B"/>
                </a:solidFill>
              </a:rPr>
              <a:t>Y</a:t>
            </a:r>
            <a:r>
              <a:rPr sz="1700" b="0">
                <a:solidFill>
                  <a:srgbClr val="14142B"/>
                </a:solidFill>
              </a:rPr>
              <a:t> (</a:t>
            </a:r>
            <a:r>
              <a:rPr sz="1700" b="0">
                <a:solidFill>
                  <a:srgbClr val="14142B"/>
                </a:solidFill>
                <a:hlinkClick r:id="rId3"/>
              </a:rPr>
              <a:t>https://github.com/shashi-bhushan-27/samsungPrism</a:t>
            </a:r>
            <a:r>
              <a:rPr sz="1700" b="0">
                <a:solidFill>
                  <a:srgbClr val="14142B"/>
                </a:solidFill>
              </a:rPr>
              <a:t>)</a:t>
            </a:r>
            <a:endParaRPr sz="2800"/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README with reproducible setup instructions: </a:t>
            </a:r>
            <a:r>
              <a:rPr sz="1700" b="1">
                <a:solidFill>
                  <a:srgbClr val="14142B"/>
                </a:solidFill>
              </a:rPr>
              <a:t>Y</a:t>
            </a:r>
            <a:r>
              <a:rPr sz="1700" b="0">
                <a:solidFill>
                  <a:srgbClr val="14142B"/>
                </a:solidFill>
              </a:rPr>
              <a:t> (make install / indexes / test / serve; Docker)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Demo video, max 5 minutes: </a:t>
            </a:r>
            <a:r>
              <a:rPr sz="1700" b="1">
                <a:solidFill>
                  <a:srgbClr val="14142B"/>
                </a:solidFill>
              </a:rPr>
              <a:t>Y</a:t>
            </a:r>
            <a:r>
              <a:rPr sz="1700" b="0">
                <a:solidFill>
                  <a:srgbClr val="14142B"/>
                </a:solidFill>
              </a:rPr>
              <a:t> (</a:t>
            </a:r>
            <a:r>
              <a:rPr sz="1700" b="0">
                <a:solidFill>
                  <a:srgbClr val="14142B"/>
                </a:solidFill>
                <a:hlinkClick r:id="rId4"/>
              </a:rPr>
              <a:t>https://youtu.be/eRBRi4PisPU</a:t>
            </a:r>
            <a:r>
              <a:rPr sz="1700" b="0">
                <a:solidFill>
                  <a:srgbClr val="14142B"/>
                </a:solidFill>
              </a:rPr>
              <a:t>; docs/ResolveAI_demo.mp4, docs/demo.webm)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Presentation file (PPT or PDF): </a:t>
            </a:r>
            <a:r>
              <a:rPr sz="1700" b="1">
                <a:solidFill>
                  <a:srgbClr val="14142B"/>
                </a:solidFill>
              </a:rPr>
              <a:t>Y</a:t>
            </a:r>
            <a:r>
              <a:rPr sz="1700" b="0">
                <a:solidFill>
                  <a:srgbClr val="14142B"/>
                </a:solidFill>
              </a:rPr>
              <a:t> (this deck, docs/ folder)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AI disclosure form: </a:t>
            </a:r>
            <a:r>
              <a:rPr sz="1700" b="1">
                <a:solidFill>
                  <a:srgbClr val="14142B"/>
                </a:solidFill>
              </a:rPr>
              <a:t>Y</a:t>
            </a:r>
            <a:r>
              <a:rPr sz="1700" b="0">
                <a:solidFill>
                  <a:srgbClr val="14142B"/>
                </a:solidFill>
              </a:rPr>
              <a:t> (docs/LangAI3.0_AI_Disclosure.docx, AI_DISCLOSURE.md)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GitHub tag: </a:t>
            </a:r>
            <a:r>
              <a:rPr sz="1700" b="1">
                <a:solidFill>
                  <a:srgbClr val="14142B"/>
                </a:solidFill>
              </a:rPr>
              <a:t>PRISM_GENAI_HACKATHON_Y2026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